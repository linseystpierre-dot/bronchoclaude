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2801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0020"/>
            <a:ext cx="8229600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1F4E5F"/>
                </a:solidFill>
                <a:latin typeface="Calibri"/>
              </a:rPr>
              <a:t>Evaluation of Suspected Exercise-Induced Bronchoconstriction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76072"/>
            <a:ext cx="822960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50" b="0" i="1">
                <a:solidFill>
                  <a:srgbClr val="555555"/>
                </a:solidFill>
                <a:latin typeface="Calibri"/>
              </a:rPr>
              <a:t>A clinical decision pathway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868680"/>
            <a:ext cx="3657600" cy="457200"/>
          </a:xfrm>
          <a:prstGeom prst="roundRect">
            <a:avLst/>
          </a:prstGeom>
          <a:solidFill>
            <a:srgbClr val="2C5F7C"/>
          </a:solidFill>
          <a:ln w="19050">
            <a:solidFill>
              <a:srgbClr val="2C5F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Symptoms suggestive of EIB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325880"/>
            <a:ext cx="0" cy="22860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926080" y="1554480"/>
            <a:ext cx="3291840" cy="457200"/>
          </a:xfrm>
          <a:prstGeom prst="roundRect">
            <a:avLst/>
          </a:prstGeom>
          <a:solidFill>
            <a:srgbClr val="E1ECF4"/>
          </a:solidFill>
          <a:ln w="19050">
            <a:solidFill>
              <a:srgbClr val="3A7C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 i="0">
                <a:solidFill>
                  <a:srgbClr val="1A1A1A"/>
                </a:solidFill>
                <a:latin typeface="Calibri"/>
              </a:rPr>
              <a:t>Baseline spirometry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0" y="2011680"/>
            <a:ext cx="0" cy="22860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103120" y="2240280"/>
            <a:ext cx="4937760" cy="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03120" y="2240280"/>
            <a:ext cx="0" cy="27432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040880" y="2240280"/>
            <a:ext cx="0" cy="27432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399" y="2057400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F4E5F"/>
                </a:solidFill>
                <a:latin typeface="Calibri"/>
              </a:rPr>
              <a:t>Airflow obstruction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057400"/>
            <a:ext cx="23774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000" b="1" i="0">
                <a:solidFill>
                  <a:srgbClr val="1F4E5F"/>
                </a:solidFill>
                <a:latin typeface="Calibri"/>
              </a:rPr>
              <a:t>Normal spirometry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39" y="2537460"/>
            <a:ext cx="2651760" cy="502920"/>
          </a:xfrm>
          <a:prstGeom prst="roundRect">
            <a:avLst/>
          </a:prstGeom>
          <a:solidFill>
            <a:srgbClr val="E1ECF4"/>
          </a:solidFill>
          <a:ln w="19050">
            <a:solidFill>
              <a:srgbClr val="3A7C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Bronchodilator
reversibility testing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103120" y="3040380"/>
            <a:ext cx="0" cy="25146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iamond 14"/>
          <p:cNvSpPr/>
          <p:nvPr/>
        </p:nvSpPr>
        <p:spPr>
          <a:xfrm>
            <a:off x="1005839" y="3291840"/>
            <a:ext cx="2194560" cy="731520"/>
          </a:xfrm>
          <a:prstGeom prst="diamond">
            <a:avLst/>
          </a:prstGeom>
          <a:solidFill>
            <a:srgbClr val="FFF4D6"/>
          </a:solidFill>
          <a:ln w="19050">
            <a:solidFill>
              <a:srgbClr val="C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Reversible?¹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40" y="3657600"/>
            <a:ext cx="0" cy="45720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0080" y="360273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00" b="1" i="1">
                <a:solidFill>
                  <a:srgbClr val="3D8B3D"/>
                </a:solidFill>
                <a:latin typeface="Calibri"/>
              </a:rPr>
              <a:t>Yes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" y="4119372"/>
            <a:ext cx="1691640" cy="502920"/>
          </a:xfrm>
          <a:prstGeom prst="roundRect">
            <a:avLst/>
          </a:prstGeom>
          <a:solidFill>
            <a:srgbClr val="DCEEDC"/>
          </a:solidFill>
          <a:ln w="19050">
            <a:solidFill>
              <a:srgbClr val="3D8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Treat as
asthma + EIB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3968496"/>
            <a:ext cx="3657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1" i="1">
                <a:solidFill>
                  <a:srgbClr val="B0524C"/>
                </a:solidFill>
                <a:latin typeface="Calibri"/>
              </a:rPr>
              <a:t>No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4023360"/>
            <a:ext cx="0" cy="132588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0" y="2537460"/>
            <a:ext cx="3108960" cy="502920"/>
          </a:xfrm>
          <a:prstGeom prst="roundRect">
            <a:avLst/>
          </a:prstGeom>
          <a:solidFill>
            <a:srgbClr val="E1ECF4"/>
          </a:solidFill>
          <a:ln w="19050">
            <a:solidFill>
              <a:srgbClr val="3A7C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Empiric pre-exercise SABA
(15–30 min before exercise)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40880" y="3040380"/>
            <a:ext cx="0" cy="25146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Diamond 22"/>
          <p:cNvSpPr/>
          <p:nvPr/>
        </p:nvSpPr>
        <p:spPr>
          <a:xfrm>
            <a:off x="5943600" y="3291840"/>
            <a:ext cx="2194560" cy="731520"/>
          </a:xfrm>
          <a:prstGeom prst="diamond">
            <a:avLst/>
          </a:prstGeom>
          <a:solidFill>
            <a:srgbClr val="FFF4D6"/>
          </a:solidFill>
          <a:ln w="19050">
            <a:solidFill>
              <a:srgbClr val="C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Symptoms
resolved?²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0" y="3657600"/>
            <a:ext cx="0" cy="45720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79" y="3602736"/>
            <a:ext cx="54864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100" b="1" i="1">
                <a:solidFill>
                  <a:srgbClr val="3D8B3D"/>
                </a:solidFill>
                <a:latin typeface="Calibri"/>
              </a:rPr>
              <a:t>Yes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46620" y="4119372"/>
            <a:ext cx="1783080" cy="502920"/>
          </a:xfrm>
          <a:prstGeom prst="roundRect">
            <a:avLst/>
          </a:prstGeom>
          <a:solidFill>
            <a:srgbClr val="DCEEDC"/>
          </a:solidFill>
          <a:ln w="19050">
            <a:solidFill>
              <a:srgbClr val="3D8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Continue
pre-exercise SABA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968496"/>
            <a:ext cx="36576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100" b="1" i="1">
                <a:solidFill>
                  <a:srgbClr val="B0524C"/>
                </a:solidFill>
                <a:latin typeface="Calibri"/>
              </a:rPr>
              <a:t>No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040880" y="4023360"/>
            <a:ext cx="0" cy="132588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103120" y="5349240"/>
            <a:ext cx="4937760" cy="0"/>
          </a:xfrm>
          <a:prstGeom prst="line">
            <a:avLst/>
          </a:prstGeom>
          <a:ln w="1905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572000" y="5349240"/>
            <a:ext cx="0" cy="27432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737360" y="5623560"/>
            <a:ext cx="5669280" cy="1097280"/>
          </a:xfrm>
          <a:prstGeom prst="roundRect">
            <a:avLst/>
          </a:prstGeom>
          <a:solidFill>
            <a:srgbClr val="E1ECF4"/>
          </a:solidFill>
          <a:ln w="19050">
            <a:solidFill>
              <a:srgbClr val="3A7C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1A1A1A"/>
                </a:solidFill>
                <a:latin typeface="Calibri"/>
              </a:rPr>
              <a:t>Bronchoprovocation testing³</a:t>
            </a:r>
          </a:p>
          <a:p>
            <a:pPr algn="ctr"/>
            <a:r>
              <a:rPr sz="1050" b="0" i="1">
                <a:solidFill>
                  <a:srgbClr val="444444"/>
                </a:solidFill>
                <a:latin typeface="Calibri"/>
              </a:rPr>
              <a:t>(indirect tests preferred)</a:t>
            </a:r>
          </a:p>
          <a:p>
            <a:pPr algn="ctr"/>
            <a:r>
              <a:rPr sz="400" b="0" i="0">
                <a:solidFill>
                  <a:srgbClr val="1A1A1A"/>
                </a:solidFill>
                <a:latin typeface="Calibri"/>
              </a:rPr>
              <a:t> </a:t>
            </a:r>
          </a:p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Also consider when formal/objective documentation is required</a:t>
            </a:r>
          </a:p>
          <a:p>
            <a:pPr algn="ctr"/>
            <a:r>
              <a:rPr sz="1000" b="0" i="0">
                <a:solidFill>
                  <a:srgbClr val="1A1A1A"/>
                </a:solidFill>
                <a:latin typeface="Calibri"/>
              </a:rPr>
              <a:t>(e.g., elite athletes, military service, insurance, occupational clearance)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572000" y="6720840"/>
            <a:ext cx="0" cy="27432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Diamond 32"/>
          <p:cNvSpPr/>
          <p:nvPr/>
        </p:nvSpPr>
        <p:spPr>
          <a:xfrm>
            <a:off x="3474720" y="6995160"/>
            <a:ext cx="2194560" cy="731520"/>
          </a:xfrm>
          <a:prstGeom prst="diamond">
            <a:avLst/>
          </a:prstGeom>
          <a:solidFill>
            <a:srgbClr val="FFF4D6"/>
          </a:solidFill>
          <a:ln w="19050">
            <a:solidFill>
              <a:srgbClr val="C6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Positive
result?⁴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474720" y="7360920"/>
            <a:ext cx="0" cy="45720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834640" y="7306055"/>
            <a:ext cx="64008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r>
              <a:rPr sz="1050" b="1" i="1">
                <a:solidFill>
                  <a:srgbClr val="3D8B3D"/>
                </a:solidFill>
                <a:latin typeface="Calibri"/>
              </a:rPr>
              <a:t>Positive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560320" y="7822692"/>
            <a:ext cx="1828800" cy="502920"/>
          </a:xfrm>
          <a:prstGeom prst="roundRect">
            <a:avLst/>
          </a:prstGeom>
          <a:solidFill>
            <a:srgbClr val="DCEEDC"/>
          </a:solidFill>
          <a:ln w="19050">
            <a:solidFill>
              <a:srgbClr val="3D8B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 i="0">
                <a:solidFill>
                  <a:srgbClr val="1A1A1A"/>
                </a:solidFill>
                <a:latin typeface="Calibri"/>
              </a:rPr>
              <a:t>Diagnose &amp;
treat EIB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669280" y="7360920"/>
            <a:ext cx="0" cy="457200"/>
          </a:xfrm>
          <a:prstGeom prst="line">
            <a:avLst/>
          </a:prstGeom>
          <a:ln w="19050">
            <a:solidFill>
              <a:srgbClr val="3A3A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23559" y="7306055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/>
            <a:r>
              <a:rPr sz="1050" b="1" i="1">
                <a:solidFill>
                  <a:srgbClr val="B0524C"/>
                </a:solidFill>
                <a:latin typeface="Calibri"/>
              </a:rPr>
              <a:t>Negative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26280" y="7822692"/>
            <a:ext cx="2286000" cy="502920"/>
          </a:xfrm>
          <a:prstGeom prst="roundRect">
            <a:avLst/>
          </a:prstGeom>
          <a:solidFill>
            <a:srgbClr val="F8E0DC"/>
          </a:solidFill>
          <a:ln w="19050">
            <a:solidFill>
              <a:srgbClr val="B052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Evaluate for
alternative diagnoses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4319" y="9098280"/>
            <a:ext cx="8595360" cy="292608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B0B0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9180576"/>
            <a:ext cx="8229600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1F4E5F"/>
                </a:solidFill>
                <a:latin typeface="Calibri"/>
              </a:rPr>
              <a:t>Key Definitions &amp; Diagnostic Criteria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22960" y="9528048"/>
            <a:ext cx="7498080" cy="0"/>
          </a:xfrm>
          <a:prstGeom prst="line">
            <a:avLst/>
          </a:prstGeom>
          <a:ln w="10160">
            <a:solidFill>
              <a:srgbClr val="B0B0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40080" y="9738360"/>
            <a:ext cx="78638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1F4E5F"/>
                </a:solidFill>
                <a:latin typeface="Calibri"/>
              </a:rPr>
              <a:t>¹  Reversible — </a:t>
            </a:r>
            <a:r>
              <a:rPr sz="1050">
                <a:solidFill>
                  <a:srgbClr val="1A1A1A"/>
                </a:solidFill>
                <a:latin typeface="Calibri"/>
              </a:rPr>
              <a:t>FEV₁ increase ≥12% AND ≥200 mL after bronchodilator (supports asthma).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10305288"/>
            <a:ext cx="78638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1F4E5F"/>
                </a:solidFill>
                <a:latin typeface="Calibri"/>
              </a:rPr>
              <a:t>²  Important — </a:t>
            </a:r>
            <a:r>
              <a:rPr sz="1050">
                <a:solidFill>
                  <a:srgbClr val="1A1A1A"/>
                </a:solidFill>
                <a:latin typeface="Calibri"/>
              </a:rPr>
              <a:t>Symptom improvement alone does NOT confirm EIB. Normal resting spirometry does NOT exclude EIB.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10872215"/>
            <a:ext cx="78638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1F4E5F"/>
                </a:solidFill>
                <a:latin typeface="Calibri"/>
              </a:rPr>
              <a:t>³  Indirect tests (preferred) — </a:t>
            </a:r>
            <a:r>
              <a:rPr sz="1050">
                <a:solidFill>
                  <a:srgbClr val="1A1A1A"/>
                </a:solidFill>
                <a:latin typeface="Calibri"/>
              </a:rPr>
              <a:t>standardized exercise challenge, eucapnic voluntary hyperpnea (EVH), mannitol challenge, or hypertonic saline challenge. Direct (methacholine) is less specific for EIB.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11439143"/>
            <a:ext cx="7863840" cy="566928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l"/>
            <a:r>
              <a:rPr sz="1050" b="1">
                <a:solidFill>
                  <a:srgbClr val="1F4E5F"/>
                </a:solidFill>
                <a:latin typeface="Calibri"/>
              </a:rPr>
              <a:t>⁴  Positive bronchoprovocation — </a:t>
            </a:r>
            <a:r>
              <a:rPr sz="1050">
                <a:solidFill>
                  <a:srgbClr val="1A1A1A"/>
                </a:solidFill>
                <a:latin typeface="Calibri"/>
              </a:rPr>
              <a:t>FEV₁ ↓ ≥10% from baseline (exercise / EVH);   FEV₁ ↓ ≥15% (mannitol / hypertonic saline).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12161519"/>
            <a:ext cx="8412480" cy="27432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/>
            <a:r>
              <a:rPr sz="850" b="0" i="1">
                <a:solidFill>
                  <a:srgbClr val="555555"/>
                </a:solidFill>
                <a:latin typeface="Calibri"/>
              </a:rPr>
              <a:t>EIB = exercise-induced bronchoconstriction   |   SABA = short-acting β₂-agonist   |   EVH = eucapnic voluntary hyperpnea   |   FEV₁ = forced expiratory volume in 1 second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